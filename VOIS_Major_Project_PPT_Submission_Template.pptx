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9" d="100"/>
          <a:sy n="79" d="100"/>
        </p:scale>
        <p:origin x="108"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6903" y="3638827"/>
            <a:ext cx="9249196" cy="937642"/>
          </a:xfrm>
        </p:spPr>
        <p:txBody>
          <a:bodyPr vert="horz" lIns="91440" tIns="45720" rIns="91440" bIns="45720" rtlCol="0" anchor="t">
            <a:normAutofit/>
          </a:bodyPr>
          <a:lstStyle/>
          <a:p>
            <a:r>
              <a:rPr lang="en-US" b="0" dirty="0" smtClean="0">
                <a:solidFill>
                  <a:schemeClr val="tx1"/>
                </a:solidFill>
              </a:rPr>
              <a:t>Student Name: </a:t>
            </a:r>
            <a:r>
              <a:rPr lang="en-US" b="0" dirty="0" err="1" smtClean="0">
                <a:solidFill>
                  <a:schemeClr val="tx1"/>
                </a:solidFill>
              </a:rPr>
              <a:t>Akshata</a:t>
            </a:r>
            <a:r>
              <a:rPr lang="en-US" b="0" dirty="0" smtClean="0">
                <a:solidFill>
                  <a:schemeClr val="tx1"/>
                </a:solidFill>
              </a:rPr>
              <a:t> </a:t>
            </a:r>
            <a:r>
              <a:rPr lang="en-US" b="0" dirty="0" err="1" smtClean="0">
                <a:solidFill>
                  <a:schemeClr val="tx1"/>
                </a:solidFill>
              </a:rPr>
              <a:t>Chikhale</a:t>
            </a:r>
            <a:r>
              <a:rPr lang="en-US" b="0" dirty="0" smtClean="0">
                <a:solidFill>
                  <a:schemeClr val="tx1"/>
                </a:solidFill>
              </a:rPr>
              <a:t>       </a:t>
            </a:r>
            <a:endParaRPr lang="en-IN" b="0" dirty="0">
              <a:solidFill>
                <a:schemeClr val="tx1"/>
              </a:solidFill>
            </a:endParaRPr>
          </a:p>
          <a:p>
            <a:r>
              <a:rPr lang="en-US" b="0" dirty="0">
                <a:solidFill>
                  <a:schemeClr val="tx1"/>
                </a:solidFill>
              </a:rPr>
              <a:t>College Name- </a:t>
            </a:r>
            <a:r>
              <a:rPr lang="en-US" b="0" dirty="0" err="1" smtClean="0">
                <a:solidFill>
                  <a:schemeClr val="tx1"/>
                </a:solidFill>
              </a:rPr>
              <a:t>Maeers</a:t>
            </a:r>
            <a:r>
              <a:rPr lang="en-US" b="0" dirty="0" smtClean="0">
                <a:solidFill>
                  <a:schemeClr val="tx1"/>
                </a:solidFill>
              </a:rPr>
              <a:t> MIT college of railway engineering and research, </a:t>
            </a:r>
            <a:r>
              <a:rPr lang="en-US" b="0" dirty="0" err="1" smtClean="0">
                <a:solidFill>
                  <a:schemeClr val="tx1"/>
                </a:solidFill>
              </a:rPr>
              <a:t>Barshi</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794001"/>
            <a:ext cx="9509509" cy="794197"/>
          </a:xfrm>
        </p:spPr>
        <p:txBody>
          <a:bodyPr>
            <a:normAutofit fontScale="90000"/>
          </a:bodyPr>
          <a:lstStyle/>
          <a:p>
            <a:r>
              <a:rPr lang="en-GB" sz="3200" dirty="0"/>
              <a:t>Project Title </a:t>
            </a:r>
            <a:r>
              <a:rPr lang="en-GB" sz="3200" dirty="0" smtClean="0"/>
              <a:t>- </a:t>
            </a:r>
            <a:r>
              <a:rPr lang="en-IN" b="1" dirty="0" smtClean="0"/>
              <a:t>Seasonal </a:t>
            </a:r>
            <a:r>
              <a:rPr lang="en-IN" b="1" dirty="0"/>
              <a:t>Agriculture Performance Analysis</a:t>
            </a:r>
            <a:r>
              <a:rPr lang="en-IN" dirty="0"/>
              <a:t/>
            </a: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6903" y="4576469"/>
            <a:ext cx="5308375" cy="369332"/>
          </a:xfrm>
          <a:prstGeom prst="rect">
            <a:avLst/>
          </a:prstGeom>
          <a:noFill/>
        </p:spPr>
        <p:txBody>
          <a:bodyPr wrap="square" rtlCol="0">
            <a:spAutoFit/>
          </a:bodyPr>
          <a:lstStyle/>
          <a:p>
            <a:r>
              <a:rPr lang="en-US" b="1" dirty="0"/>
              <a:t>AICTE STU ID : STU6a5f68692f8831784637545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318926" y="2038793"/>
            <a:ext cx="6431280" cy="4156450"/>
          </a:xfrm>
        </p:spPr>
        <p:txBody>
          <a:bodyPr vert="horz" lIns="91440" tIns="45720" rIns="91440" bIns="45720" rtlCol="0" anchor="t">
            <a:normAutofit fontScale="55000" lnSpcReduction="20000"/>
          </a:bodyPr>
          <a:lstStyle/>
          <a:p>
            <a:pPr>
              <a:lnSpc>
                <a:spcPct val="150000"/>
              </a:lnSpc>
            </a:pPr>
            <a:r>
              <a:rPr lang="en-US" sz="2800" dirty="0" smtClean="0"/>
              <a:t>Agricultural </a:t>
            </a:r>
            <a:r>
              <a:rPr lang="en-US" sz="2800" dirty="0"/>
              <a:t>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11599"/>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a:spLocks noChangeArrowheads="1"/>
          </p:cNvSpPr>
          <p:nvPr/>
        </p:nvSpPr>
        <p:spPr bwMode="auto">
          <a:xfrm>
            <a:off x="232689" y="1351241"/>
            <a:ext cx="1025458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smtClean="0"/>
              <a:t>Seasonal </a:t>
            </a:r>
            <a:r>
              <a:rPr lang="en-US" b="1" dirty="0"/>
              <a:t>Agriculture Performance Analysis</a:t>
            </a:r>
            <a:r>
              <a:rPr lang="en-US" dirty="0"/>
              <a:t> is a data analytics project developed to understand how agricultural performance changes across different seasons and farming conditions.</a:t>
            </a:r>
          </a:p>
          <a:p>
            <a:pPr marL="285750" indent="-285750">
              <a:buFont typeface="Arial" panose="020B0604020202020204" pitchFamily="34" charset="0"/>
              <a:buChar char="•"/>
            </a:pPr>
            <a:r>
              <a:rPr lang="en-US" dirty="0"/>
              <a:t>The project analyzes agricultural data containing </a:t>
            </a:r>
            <a:r>
              <a:rPr lang="en-US" b="1" dirty="0"/>
              <a:t>crop, season, state, environmental, resource, production, and financial information</a:t>
            </a:r>
            <a:r>
              <a:rPr lang="en-US" dirty="0"/>
              <a:t>. </a:t>
            </a:r>
          </a:p>
          <a:p>
            <a:pPr marL="285750" indent="-285750">
              <a:buFont typeface="Arial" panose="020B0604020202020204" pitchFamily="34" charset="0"/>
              <a:buChar char="•"/>
            </a:pPr>
            <a:r>
              <a:rPr lang="en-US" dirty="0"/>
              <a:t>It studies factors such as </a:t>
            </a:r>
            <a:r>
              <a:rPr lang="en-US" b="1" dirty="0"/>
              <a:t>rainfall, temperature, humidity, soil moisture, fertilizer usage, pesticide usage, and water consumption</a:t>
            </a:r>
            <a:r>
              <a:rPr lang="en-US" dirty="0"/>
              <a:t>. </a:t>
            </a:r>
          </a:p>
          <a:p>
            <a:pPr marL="285750" indent="-285750">
              <a:buFont typeface="Arial" panose="020B0604020202020204" pitchFamily="34" charset="0"/>
              <a:buChar char="•"/>
            </a:pPr>
            <a:r>
              <a:rPr lang="en-US" dirty="0"/>
              <a:t>The performance of different </a:t>
            </a:r>
            <a:r>
              <a:rPr lang="en-US" b="1" dirty="0"/>
              <a:t>crops, states, and seasons</a:t>
            </a:r>
            <a:r>
              <a:rPr lang="en-US" dirty="0"/>
              <a:t> is compared using parameters such as </a:t>
            </a:r>
            <a:r>
              <a:rPr lang="en-US" b="1" dirty="0"/>
              <a:t>yield, production, revenue, cost, and profit</a:t>
            </a:r>
            <a:r>
              <a:rPr lang="en-US" dirty="0"/>
              <a:t>. </a:t>
            </a:r>
          </a:p>
          <a:p>
            <a:pPr marL="285750" indent="-285750">
              <a:buFont typeface="Arial" panose="020B0604020202020204" pitchFamily="34" charset="0"/>
              <a:buChar char="•"/>
            </a:pPr>
            <a:r>
              <a:rPr lang="en-US" b="1" dirty="0"/>
              <a:t>Data cleaning and statistical analysis</a:t>
            </a:r>
            <a:r>
              <a:rPr lang="en-US" dirty="0"/>
              <a:t> are performed to ensure that the dataset is suitable for meaningful analysis. </a:t>
            </a:r>
          </a:p>
          <a:p>
            <a:pPr marL="285750" indent="-285750">
              <a:buFont typeface="Arial" panose="020B0604020202020204" pitchFamily="34" charset="0"/>
              <a:buChar char="•"/>
            </a:pPr>
            <a:r>
              <a:rPr lang="en-US" b="1" dirty="0"/>
              <a:t>Univariate, bivariate, and multivariate analysis</a:t>
            </a:r>
            <a:r>
              <a:rPr lang="en-US" dirty="0"/>
              <a:t> is used to identify important patterns and relationships within the data. </a:t>
            </a:r>
          </a:p>
          <a:p>
            <a:pPr marL="285750" indent="-285750">
              <a:buFont typeface="Arial" panose="020B0604020202020204" pitchFamily="34" charset="0"/>
              <a:buChar char="•"/>
            </a:pPr>
            <a:r>
              <a:rPr lang="en-US" b="1" dirty="0"/>
              <a:t>Data visualization techniques</a:t>
            </a:r>
            <a:r>
              <a:rPr lang="en-US" dirty="0"/>
              <a:t> such as bar charts, box plots, scatter plots, histograms, and correlation </a:t>
            </a:r>
            <a:r>
              <a:rPr lang="en-US" dirty="0" err="1"/>
              <a:t>heatmaps</a:t>
            </a:r>
            <a:r>
              <a:rPr lang="en-US" dirty="0"/>
              <a:t> are used to present the findings clearly. </a:t>
            </a:r>
          </a:p>
          <a:p>
            <a:pPr marL="285750" indent="-285750">
              <a:buFont typeface="Arial" panose="020B0604020202020204" pitchFamily="34" charset="0"/>
              <a:buChar char="•"/>
            </a:pPr>
            <a:r>
              <a:rPr lang="en-US" dirty="0"/>
              <a:t>The project identifies </a:t>
            </a:r>
            <a:r>
              <a:rPr lang="en-US" b="1" dirty="0"/>
              <a:t>high-performing crops, productive regions, profitable seasons, and resource-efficient practices</a:t>
            </a:r>
            <a:r>
              <a:rPr lang="en-US" dirty="0"/>
              <a:t>. </a:t>
            </a:r>
          </a:p>
          <a:p>
            <a:r>
              <a:rPr lang="en-US" dirty="0"/>
              <a:t>Finally, the results are converted into </a:t>
            </a:r>
            <a:r>
              <a:rPr lang="en-US" b="1" dirty="0"/>
              <a:t>meaningful insights and evidence-based recommendations</a:t>
            </a:r>
            <a:r>
              <a:rPr lang="en-US" dirty="0"/>
              <a:t> for better agricultural planning and resource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620008" y="2103197"/>
            <a:ext cx="817389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Farmers</a:t>
            </a:r>
            <a:r>
              <a:rPr kumimoji="0" lang="en-US" altLang="en-US" sz="1800" b="0" i="0" u="none" strike="noStrike" cap="none" normalizeH="0" baseline="0" smtClean="0">
                <a:ln>
                  <a:noFill/>
                </a:ln>
                <a:solidFill>
                  <a:schemeClr val="tx1"/>
                </a:solidFill>
                <a:effectLst/>
                <a:latin typeface="Arial" panose="020B0604020202020204" pitchFamily="34" charset="0"/>
              </a:rPr>
              <a:t> – To understand crop performance, seasonal trends, and resource usage.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Agricultural Planners</a:t>
            </a:r>
            <a:r>
              <a:rPr kumimoji="0" lang="en-US" altLang="en-US" sz="1800" b="0" i="0" u="none" strike="noStrike" cap="none" normalizeH="0" baseline="0" smtClean="0">
                <a:ln>
                  <a:noFill/>
                </a:ln>
                <a:solidFill>
                  <a:schemeClr val="tx1"/>
                </a:solidFill>
                <a:effectLst/>
                <a:latin typeface="Arial" panose="020B0604020202020204" pitchFamily="34" charset="0"/>
              </a:rPr>
              <a:t> – To support seasonal planning and crop selection using data-driven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Agricultural Researchers</a:t>
            </a:r>
            <a:r>
              <a:rPr kumimoji="0" lang="en-US" altLang="en-US" sz="1800" b="0" i="0" u="none" strike="noStrike" cap="none" normalizeH="0" baseline="0" smtClean="0">
                <a:ln>
                  <a:noFill/>
                </a:ln>
                <a:solidFill>
                  <a:schemeClr val="tx1"/>
                </a:solidFill>
                <a:effectLst/>
                <a:latin typeface="Arial" panose="020B0604020202020204" pitchFamily="34" charset="0"/>
              </a:rPr>
              <a:t> – To study relationships between environmental factors and agricultural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Agriculture Departments/Government Agencies</a:t>
            </a:r>
            <a:r>
              <a:rPr kumimoji="0" lang="en-US" altLang="en-US" sz="1800" b="0" i="0" u="none" strike="noStrike" cap="none" normalizeH="0" baseline="0" smtClean="0">
                <a:ln>
                  <a:noFill/>
                </a:ln>
                <a:solidFill>
                  <a:schemeClr val="tx1"/>
                </a:solidFill>
                <a:effectLst/>
                <a:latin typeface="Arial" panose="020B0604020202020204" pitchFamily="34" charset="0"/>
              </a:rPr>
              <a:t> – To evaluate regional and seasonal agricultural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Agribusiness &amp; Farm Managers</a:t>
            </a:r>
            <a:r>
              <a:rPr kumimoji="0" lang="en-US" altLang="en-US" sz="1800" b="0" i="0" u="none" strike="noStrike" cap="none" normalizeH="0" baseline="0" smtClean="0">
                <a:ln>
                  <a:noFill/>
                </a:ln>
                <a:solidFill>
                  <a:schemeClr val="tx1"/>
                </a:solidFill>
                <a:effectLst/>
                <a:latin typeface="Arial" panose="020B0604020202020204" pitchFamily="34" charset="0"/>
              </a:rPr>
              <a:t> – To analyze production, profitability, and resource efficiency for better decision-making.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487805" y="481984"/>
            <a:ext cx="5306291" cy="847817"/>
          </a:xfrm>
        </p:spPr>
        <p:txBody>
          <a:bodyPr>
            <a:normAutofit/>
          </a:bodyPr>
          <a:lstStyle/>
          <a:p>
            <a:r>
              <a:rPr lang="en-US" dirty="0"/>
              <a:t>Technology Used</a:t>
            </a:r>
          </a:p>
        </p:txBody>
      </p:sp>
      <p:sp>
        <p:nvSpPr>
          <p:cNvPr id="3" name="Rectangle 1"/>
          <p:cNvSpPr>
            <a:spLocks noGrp="1" noChangeArrowheads="1"/>
          </p:cNvSpPr>
          <p:nvPr>
            <p:ph type="body" sz="quarter" idx="12"/>
          </p:nvPr>
        </p:nvSpPr>
        <p:spPr bwMode="auto">
          <a:xfrm>
            <a:off x="1487805" y="2153561"/>
            <a:ext cx="686648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Programming Language:</a:t>
            </a:r>
            <a:r>
              <a:rPr kumimoji="0" lang="en-US" altLang="en-US" sz="1800" b="0" i="0" u="none" strike="noStrike" cap="none" normalizeH="0" baseline="0" smtClean="0">
                <a:ln>
                  <a:noFill/>
                </a:ln>
                <a:solidFill>
                  <a:schemeClr val="tx1"/>
                </a:solidFill>
                <a:effectLst/>
                <a:latin typeface="Arial" panose="020B0604020202020204" pitchFamily="34" charset="0"/>
              </a:rPr>
              <a:t> 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Development Platform:</a:t>
            </a:r>
            <a:r>
              <a:rPr kumimoji="0" lang="en-US" altLang="en-US" sz="1800" b="0" i="0" u="none" strike="noStrike" cap="none" normalizeH="0" baseline="0" smtClean="0">
                <a:ln>
                  <a:noFill/>
                </a:ln>
                <a:solidFill>
                  <a:schemeClr val="tx1"/>
                </a:solidFill>
                <a:effectLst/>
                <a:latin typeface="Arial" panose="020B0604020202020204" pitchFamily="34" charset="0"/>
              </a:rPr>
              <a:t> Google Colab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Libraries:</a:t>
            </a:r>
            <a:r>
              <a:rPr kumimoji="0" lang="en-US" altLang="en-US" sz="1800" b="0" i="0" u="none" strike="noStrike" cap="none" normalizeH="0" baseline="0" smtClean="0">
                <a:ln>
                  <a:noFill/>
                </a:ln>
                <a:solidFill>
                  <a:schemeClr val="tx1"/>
                </a:solidFill>
                <a:effectLst/>
                <a:latin typeface="Arial" panose="020B0604020202020204" pitchFamily="34" charset="0"/>
              </a:rPr>
              <a:t> Pandas, NumPy, Matplotlib, Seaborn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Data Analysis:</a:t>
            </a:r>
            <a:r>
              <a:rPr kumimoji="0" lang="en-US" altLang="en-US" sz="1800" b="0" i="0" u="none" strike="noStrike" cap="none" normalizeH="0" baseline="0" smtClean="0">
                <a:ln>
                  <a:noFill/>
                </a:ln>
                <a:solidFill>
                  <a:schemeClr val="tx1"/>
                </a:solidFill>
                <a:effectLst/>
                <a:latin typeface="Arial" panose="020B0604020202020204" pitchFamily="34" charset="0"/>
              </a:rPr>
              <a:t> Pandas &amp; NumPy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Data Visualization:</a:t>
            </a:r>
            <a:r>
              <a:rPr kumimoji="0" lang="en-US" altLang="en-US" sz="1800" b="0" i="0" u="none" strike="noStrike" cap="none" normalizeH="0" baseline="0" smtClean="0">
                <a:ln>
                  <a:noFill/>
                </a:ln>
                <a:solidFill>
                  <a:schemeClr val="tx1"/>
                </a:solidFill>
                <a:effectLst/>
                <a:latin typeface="Arial" panose="020B0604020202020204" pitchFamily="34" charset="0"/>
              </a:rPr>
              <a:t> Matplotlib &amp; Seaborn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Statistical Analysis:</a:t>
            </a:r>
            <a:r>
              <a:rPr kumimoji="0" lang="en-US" altLang="en-US" sz="1800" b="0" i="0" u="none" strike="noStrike" cap="none" normalizeH="0" baseline="0" smtClean="0">
                <a:ln>
                  <a:noFill/>
                </a:ln>
                <a:solidFill>
                  <a:schemeClr val="tx1"/>
                </a:solidFill>
                <a:effectLst/>
                <a:latin typeface="Arial" panose="020B0604020202020204" pitchFamily="34" charset="0"/>
              </a:rPr>
              <a:t> Descriptive statistics &amp; Correlation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Dataset:</a:t>
            </a:r>
            <a:r>
              <a:rPr kumimoji="0" lang="en-US" altLang="en-US" sz="1800" b="0" i="0" u="none" strike="noStrike" cap="none" normalizeH="0" baseline="0" smtClean="0">
                <a:ln>
                  <a:noFill/>
                </a:ln>
                <a:solidFill>
                  <a:schemeClr val="tx1"/>
                </a:solidFill>
                <a:effectLst/>
                <a:latin typeface="Arial" panose="020B0604020202020204" pitchFamily="34" charset="0"/>
              </a:rPr>
              <a:t> CSV (Agricultural Performance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Data Processing:</a:t>
            </a:r>
            <a:r>
              <a:rPr kumimoji="0" lang="en-US" altLang="en-US" sz="1800" b="0" i="0" u="none" strike="noStrike" cap="none" normalizeH="0" baseline="0" smtClean="0">
                <a:ln>
                  <a:noFill/>
                </a:ln>
                <a:solidFill>
                  <a:schemeClr val="tx1"/>
                </a:solidFill>
                <a:effectLst/>
                <a:latin typeface="Arial" panose="020B0604020202020204" pitchFamily="34" charset="0"/>
              </a:rPr>
              <a:t> Data cleaning, missing-value checking, duplicate removal, and outlier analysis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675957" y="3610453"/>
            <a:ext cx="6363027" cy="3054507"/>
          </a:xfrm>
          <a:prstGeom prst="rect">
            <a:avLst/>
          </a:prstGeom>
        </p:spPr>
      </p:pic>
      <p:sp>
        <p:nvSpPr>
          <p:cNvPr id="3" name="Rectangle 2"/>
          <p:cNvSpPr/>
          <p:nvPr/>
        </p:nvSpPr>
        <p:spPr>
          <a:xfrm>
            <a:off x="942984" y="1459063"/>
            <a:ext cx="6096000" cy="1754326"/>
          </a:xfrm>
          <a:prstGeom prst="rect">
            <a:avLst/>
          </a:prstGeom>
        </p:spPr>
        <p:txBody>
          <a:bodyPr>
            <a:spAutoFit/>
          </a:bodyPr>
          <a:lstStyle/>
          <a:p>
            <a:r>
              <a:rPr lang="en-US" b="1" dirty="0"/>
              <a:t>Crop-wise Yield </a:t>
            </a:r>
            <a:r>
              <a:rPr lang="en-US" b="1" dirty="0" smtClean="0"/>
              <a:t>Analysis:</a:t>
            </a:r>
            <a:endParaRPr lang="en-US" b="1" dirty="0"/>
          </a:p>
          <a:p>
            <a:r>
              <a:rPr lang="en-US" b="1" dirty="0"/>
              <a:t>Shows:</a:t>
            </a:r>
            <a:r>
              <a:rPr lang="en-US" dirty="0"/>
              <a:t> Average yield of different crops</a:t>
            </a:r>
            <a:br>
              <a:rPr lang="en-US" dirty="0"/>
            </a:br>
            <a:r>
              <a:rPr lang="en-US" b="1" dirty="0"/>
              <a:t>Purpose:</a:t>
            </a:r>
            <a:r>
              <a:rPr lang="en-US" dirty="0"/>
              <a:t> Compare crop productivity</a:t>
            </a:r>
            <a:br>
              <a:rPr lang="en-US" dirty="0"/>
            </a:br>
            <a:r>
              <a:rPr lang="en-US" b="1" dirty="0"/>
              <a:t>Result:</a:t>
            </a:r>
            <a:r>
              <a:rPr lang="en-US" dirty="0"/>
              <a:t> Identifies high- and low-yielding crops</a:t>
            </a:r>
            <a:br>
              <a:rPr lang="en-US" dirty="0"/>
            </a:br>
            <a:r>
              <a:rPr lang="en-US" b="1" dirty="0"/>
              <a:t>Insight:</a:t>
            </a:r>
            <a:r>
              <a:rPr lang="en-US" dirty="0"/>
              <a:t> Crop performance varies across different crop types.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1034329" y="3337608"/>
            <a:ext cx="5528312" cy="3230832"/>
          </a:xfrm>
          <a:prstGeom prst="rect">
            <a:avLst/>
          </a:prstGeom>
        </p:spPr>
      </p:pic>
      <p:sp>
        <p:nvSpPr>
          <p:cNvPr id="6" name="Rectangle 5"/>
          <p:cNvSpPr/>
          <p:nvPr/>
        </p:nvSpPr>
        <p:spPr>
          <a:xfrm>
            <a:off x="846967" y="1290827"/>
            <a:ext cx="6096000" cy="2031325"/>
          </a:xfrm>
          <a:prstGeom prst="rect">
            <a:avLst/>
          </a:prstGeom>
        </p:spPr>
        <p:txBody>
          <a:bodyPr>
            <a:spAutoFit/>
          </a:bodyPr>
          <a:lstStyle/>
          <a:p>
            <a:r>
              <a:rPr lang="en-US" b="1" dirty="0"/>
              <a:t>Rainfall vs Yield Analysis</a:t>
            </a:r>
          </a:p>
          <a:p>
            <a:pPr>
              <a:buFont typeface="Arial" panose="020B0604020202020204" pitchFamily="34" charset="0"/>
              <a:buChar char="•"/>
            </a:pPr>
            <a:r>
              <a:rPr lang="en-US" dirty="0"/>
              <a:t>Examines the </a:t>
            </a:r>
            <a:r>
              <a:rPr lang="en-US" b="1" dirty="0"/>
              <a:t>relationship between rainfall and crop yield</a:t>
            </a:r>
            <a:r>
              <a:rPr lang="en-US" dirty="0"/>
              <a:t>. </a:t>
            </a:r>
          </a:p>
          <a:p>
            <a:pPr>
              <a:buFont typeface="Arial" panose="020B0604020202020204" pitchFamily="34" charset="0"/>
              <a:buChar char="•"/>
            </a:pPr>
            <a:r>
              <a:rPr lang="en-US" dirty="0"/>
              <a:t>Shows whether changes in </a:t>
            </a:r>
            <a:r>
              <a:rPr lang="en-US" b="1" dirty="0"/>
              <a:t>rainfall are associated with yield variations</a:t>
            </a:r>
            <a:r>
              <a:rPr lang="en-US" dirty="0"/>
              <a:t>. </a:t>
            </a:r>
          </a:p>
          <a:p>
            <a:pPr>
              <a:buFont typeface="Arial" panose="020B0604020202020204" pitchFamily="34" charset="0"/>
              <a:buChar char="•"/>
            </a:pPr>
            <a:r>
              <a:rPr lang="en-US" dirty="0"/>
              <a:t>Helps identify </a:t>
            </a:r>
            <a:r>
              <a:rPr lang="en-US" b="1" dirty="0"/>
              <a:t>patterns or trends</a:t>
            </a:r>
            <a:r>
              <a:rPr lang="en-US" dirty="0"/>
              <a:t> between rainfall and productivity. </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82900" y="14849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771002" y="3306696"/>
            <a:ext cx="7282077" cy="3509582"/>
          </a:xfrm>
          <a:prstGeom prst="rect">
            <a:avLst/>
          </a:prstGeom>
        </p:spPr>
      </p:pic>
      <p:sp>
        <p:nvSpPr>
          <p:cNvPr id="6" name="Rectangle 5"/>
          <p:cNvSpPr/>
          <p:nvPr/>
        </p:nvSpPr>
        <p:spPr>
          <a:xfrm>
            <a:off x="957119" y="1225134"/>
            <a:ext cx="6096000" cy="2031325"/>
          </a:xfrm>
          <a:prstGeom prst="rect">
            <a:avLst/>
          </a:prstGeom>
        </p:spPr>
        <p:txBody>
          <a:bodyPr>
            <a:spAutoFit/>
          </a:bodyPr>
          <a:lstStyle/>
          <a:p>
            <a:r>
              <a:rPr lang="en-US" b="1" dirty="0"/>
              <a:t>Crop × Season Yield Analysis</a:t>
            </a:r>
          </a:p>
          <a:p>
            <a:pPr>
              <a:buFont typeface="Arial" panose="020B0604020202020204" pitchFamily="34" charset="0"/>
              <a:buChar char="•"/>
            </a:pPr>
            <a:r>
              <a:rPr lang="en-US" dirty="0"/>
              <a:t>Compares </a:t>
            </a:r>
            <a:r>
              <a:rPr lang="en-US" b="1" dirty="0"/>
              <a:t>average yield of each crop across different seasons</a:t>
            </a:r>
            <a:r>
              <a:rPr lang="en-US" dirty="0"/>
              <a:t>. </a:t>
            </a:r>
          </a:p>
          <a:p>
            <a:pPr>
              <a:buFont typeface="Arial" panose="020B0604020202020204" pitchFamily="34" charset="0"/>
              <a:buChar char="•"/>
            </a:pPr>
            <a:r>
              <a:rPr lang="en-US" dirty="0"/>
              <a:t>Highlights how </a:t>
            </a:r>
            <a:r>
              <a:rPr lang="en-US" b="1" dirty="0"/>
              <a:t>seasonal conditions affect crop productivity</a:t>
            </a:r>
            <a:r>
              <a:rPr lang="en-US" dirty="0"/>
              <a:t>. </a:t>
            </a:r>
          </a:p>
          <a:p>
            <a:pPr>
              <a:buFont typeface="Arial" panose="020B0604020202020204" pitchFamily="34" charset="0"/>
              <a:buChar char="•"/>
            </a:pPr>
            <a:r>
              <a:rPr lang="en-US" dirty="0"/>
              <a:t>Helps identify the </a:t>
            </a:r>
            <a:r>
              <a:rPr lang="en-US" b="1" dirty="0"/>
              <a:t>best-performing crop–season combinations</a:t>
            </a:r>
            <a:r>
              <a:rPr lang="en-US" dirty="0"/>
              <a:t>. </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160305" y="1809444"/>
            <a:ext cx="4994607" cy="2803015"/>
          </a:xfrm>
          <a:prstGeom prst="rect">
            <a:avLst/>
          </a:prstGeom>
        </p:spPr>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b="1" dirty="0"/>
              <a:t>Correlation </a:t>
            </a:r>
            <a:r>
              <a:rPr lang="en-US" sz="2000" b="1" dirty="0" err="1"/>
              <a:t>Heatmap</a:t>
            </a:r>
            <a:endParaRPr lang="en-US" sz="2000" b="1" dirty="0"/>
          </a:p>
          <a:p>
            <a:pPr marL="342900" indent="-342900" algn="l">
              <a:buFont typeface="Arial" panose="020B0604020202020204" pitchFamily="34" charset="0"/>
              <a:buChar char="•"/>
            </a:pPr>
            <a:r>
              <a:rPr lang="en-US" sz="2000" dirty="0"/>
              <a:t>Shows the </a:t>
            </a:r>
            <a:r>
              <a:rPr lang="en-US" sz="2000" b="1" dirty="0"/>
              <a:t>relationships between numerical agricultural variables</a:t>
            </a:r>
            <a:r>
              <a:rPr lang="en-US" sz="2000" dirty="0"/>
              <a:t>. </a:t>
            </a:r>
          </a:p>
          <a:p>
            <a:pPr marL="342900" indent="-342900" algn="l">
              <a:buFont typeface="Arial" panose="020B0604020202020204" pitchFamily="34" charset="0"/>
              <a:buChar char="•"/>
            </a:pPr>
            <a:r>
              <a:rPr lang="en-US" sz="2000" dirty="0"/>
              <a:t>Helps identify </a:t>
            </a:r>
            <a:r>
              <a:rPr lang="en-US" sz="2000" b="1" dirty="0"/>
              <a:t>strong positive and negative correlations</a:t>
            </a:r>
            <a:r>
              <a:rPr lang="en-US" sz="2000" dirty="0"/>
              <a:t>. </a:t>
            </a:r>
          </a:p>
          <a:p>
            <a:pPr marL="342900" indent="-342900" algn="l">
              <a:buFont typeface="Arial" panose="020B0604020202020204" pitchFamily="34" charset="0"/>
              <a:buChar char="•"/>
            </a:pPr>
            <a:r>
              <a:rPr lang="en-US" sz="2000" dirty="0"/>
              <a:t>Highlights factors that are </a:t>
            </a:r>
            <a:r>
              <a:rPr lang="en-US" sz="2000" b="1" dirty="0"/>
              <a:t>closely related to crop yield and profit</a:t>
            </a:r>
            <a:r>
              <a:rPr lang="en-US" sz="2000" dirty="0"/>
              <a:t>. </a:t>
            </a:r>
          </a:p>
          <a:p>
            <a:pPr marL="342900" indent="-342900" algn="l">
              <a:buFont typeface="Arial" panose="020B0604020202020204" pitchFamily="34" charset="0"/>
              <a:buChar char="•"/>
            </a:pPr>
            <a:r>
              <a:rPr lang="en-US" sz="2000" dirty="0"/>
              <a:t>Supports </a:t>
            </a:r>
            <a:r>
              <a:rPr lang="en-US" sz="2000" b="1" dirty="0"/>
              <a:t>data-driven interpretation and decision-making</a:t>
            </a:r>
            <a:r>
              <a:rPr lang="en-US" sz="2000" dirty="0"/>
              <a:t>.</a:t>
            </a:r>
          </a:p>
        </p:txBody>
      </p:sp>
      <p:pic>
        <p:nvPicPr>
          <p:cNvPr id="2" name="Picture 1"/>
          <p:cNvPicPr>
            <a:picLocks noChangeAspect="1"/>
          </p:cNvPicPr>
          <p:nvPr/>
        </p:nvPicPr>
        <p:blipFill>
          <a:blip r:embed="rId3"/>
          <a:stretch>
            <a:fillRect/>
          </a:stretch>
        </p:blipFill>
        <p:spPr>
          <a:xfrm>
            <a:off x="5703349" y="1752800"/>
            <a:ext cx="5843606" cy="425409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1344493" y="3282621"/>
            <a:ext cx="5752222" cy="3449781"/>
          </a:xfrm>
          <a:prstGeom prst="rect">
            <a:avLst/>
          </a:prstGeom>
        </p:spPr>
      </p:pic>
      <p:sp>
        <p:nvSpPr>
          <p:cNvPr id="6" name="Rectangle 5"/>
          <p:cNvSpPr/>
          <p:nvPr/>
        </p:nvSpPr>
        <p:spPr>
          <a:xfrm>
            <a:off x="957119" y="1401833"/>
            <a:ext cx="7482874" cy="1754326"/>
          </a:xfrm>
          <a:prstGeom prst="rect">
            <a:avLst/>
          </a:prstGeom>
        </p:spPr>
        <p:txBody>
          <a:bodyPr wrap="square">
            <a:spAutoFit/>
          </a:bodyPr>
          <a:lstStyle/>
          <a:p>
            <a:r>
              <a:rPr lang="en-US" b="1" dirty="0"/>
              <a:t>Fertilizer vs Yield — Scatter Plot</a:t>
            </a:r>
          </a:p>
          <a:p>
            <a:pPr>
              <a:buFont typeface="Arial" panose="020B0604020202020204" pitchFamily="34" charset="0"/>
              <a:buChar char="•"/>
            </a:pPr>
            <a:r>
              <a:rPr lang="en-US" dirty="0"/>
              <a:t>Examines the </a:t>
            </a:r>
            <a:r>
              <a:rPr lang="en-US" b="1" dirty="0"/>
              <a:t>relationship between fertilizer usage and crop yield</a:t>
            </a:r>
            <a:r>
              <a:rPr lang="en-US" dirty="0"/>
              <a:t>. </a:t>
            </a:r>
          </a:p>
          <a:p>
            <a:pPr>
              <a:buFont typeface="Arial" panose="020B0604020202020204" pitchFamily="34" charset="0"/>
              <a:buChar char="•"/>
            </a:pPr>
            <a:r>
              <a:rPr lang="en-US" dirty="0"/>
              <a:t>Shows whether higher fertilizer application is associated with </a:t>
            </a:r>
            <a:r>
              <a:rPr lang="en-US" b="1" dirty="0"/>
              <a:t>changes in yield</a:t>
            </a:r>
            <a:r>
              <a:rPr lang="en-US" dirty="0"/>
              <a:t>. </a:t>
            </a:r>
          </a:p>
          <a:p>
            <a:pPr>
              <a:buFont typeface="Arial" panose="020B0604020202020204" pitchFamily="34" charset="0"/>
              <a:buChar char="•"/>
            </a:pPr>
            <a:r>
              <a:rPr lang="en-US" dirty="0"/>
              <a:t>Helps understand the impact of </a:t>
            </a:r>
            <a:r>
              <a:rPr lang="en-US" b="1" dirty="0"/>
              <a:t>fertilizer usage on agricultural productivity</a:t>
            </a:r>
            <a:r>
              <a:rPr lang="en-US" dirty="0"/>
              <a:t>. </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69316"/>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30773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indent="-342900">
              <a:buFont typeface="Arial" panose="020B0604020202020204" pitchFamily="34" charset="0"/>
              <a:buChar char="•"/>
            </a:pPr>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445062" y="1608410"/>
            <a:ext cx="8698938" cy="4247317"/>
          </a:xfrm>
          <a:prstGeom prst="rect">
            <a:avLst/>
          </a:prstGeom>
        </p:spPr>
        <p:txBody>
          <a:bodyPr wrap="square">
            <a:spAutoFit/>
          </a:bodyPr>
          <a:lstStyle/>
          <a:p>
            <a:pPr>
              <a:buFont typeface="Arial" panose="020B0604020202020204" pitchFamily="34" charset="0"/>
              <a:buChar char="•"/>
            </a:pPr>
            <a:r>
              <a:rPr lang="en-US" dirty="0"/>
              <a:t>Develop a </a:t>
            </a:r>
            <a:r>
              <a:rPr lang="en-US" b="1" dirty="0"/>
              <a:t>real-time agricultural monitoring system</a:t>
            </a:r>
            <a:r>
              <a:rPr lang="en-US" dirty="0"/>
              <a:t> using live weather and farm data. </a:t>
            </a:r>
          </a:p>
          <a:p>
            <a:pPr>
              <a:buFont typeface="Arial" panose="020B0604020202020204" pitchFamily="34" charset="0"/>
              <a:buChar char="•"/>
            </a:pPr>
            <a:r>
              <a:rPr lang="en-US" dirty="0"/>
              <a:t>Integrate </a:t>
            </a:r>
            <a:r>
              <a:rPr lang="en-US" b="1" dirty="0" err="1"/>
              <a:t>IoT</a:t>
            </a:r>
            <a:r>
              <a:rPr lang="en-US" b="1" dirty="0"/>
              <a:t> sensors</a:t>
            </a:r>
            <a:r>
              <a:rPr lang="en-US" dirty="0"/>
              <a:t> to collect soil moisture, temperature, humidity, and water-usage data. </a:t>
            </a:r>
          </a:p>
          <a:p>
            <a:pPr>
              <a:buFont typeface="Arial" panose="020B0604020202020204" pitchFamily="34" charset="0"/>
              <a:buChar char="•"/>
            </a:pPr>
            <a:r>
              <a:rPr lang="en-US" dirty="0"/>
              <a:t>Extend the analysis to include </a:t>
            </a:r>
            <a:r>
              <a:rPr lang="en-US" b="1" dirty="0"/>
              <a:t>weather forecasting and climate-change effects</a:t>
            </a:r>
            <a:r>
              <a:rPr lang="en-US" dirty="0"/>
              <a:t>. </a:t>
            </a:r>
          </a:p>
          <a:p>
            <a:pPr>
              <a:buFont typeface="Arial" panose="020B0604020202020204" pitchFamily="34" charset="0"/>
              <a:buChar char="•"/>
            </a:pPr>
            <a:r>
              <a:rPr lang="en-US" dirty="0"/>
              <a:t>Provide </a:t>
            </a:r>
            <a:r>
              <a:rPr lang="en-US" b="1" dirty="0"/>
              <a:t>crop-specific recommendations</a:t>
            </a:r>
            <a:r>
              <a:rPr lang="en-US" dirty="0"/>
              <a:t> based on seasonal and environmental conditions. </a:t>
            </a:r>
          </a:p>
          <a:p>
            <a:pPr>
              <a:buFont typeface="Arial" panose="020B0604020202020204" pitchFamily="34" charset="0"/>
              <a:buChar char="•"/>
            </a:pPr>
            <a:r>
              <a:rPr lang="en-US" dirty="0"/>
              <a:t>Analyze </a:t>
            </a:r>
            <a:r>
              <a:rPr lang="en-US" b="1" dirty="0"/>
              <a:t>historical data over multiple years</a:t>
            </a:r>
            <a:r>
              <a:rPr lang="en-US" dirty="0"/>
              <a:t> to identify long-term agricultural trends. </a:t>
            </a:r>
          </a:p>
          <a:p>
            <a:pPr>
              <a:buFont typeface="Arial" panose="020B0604020202020204" pitchFamily="34" charset="0"/>
              <a:buChar char="•"/>
            </a:pPr>
            <a:r>
              <a:rPr lang="en-US" dirty="0"/>
              <a:t>Develop an interactive </a:t>
            </a:r>
            <a:r>
              <a:rPr lang="en-US" b="1" dirty="0"/>
              <a:t>web-based dashboard</a:t>
            </a:r>
            <a:r>
              <a:rPr lang="en-US" dirty="0"/>
              <a:t> for farmers and agricultural departments. </a:t>
            </a:r>
          </a:p>
          <a:p>
            <a:pPr>
              <a:buFont typeface="Arial" panose="020B0604020202020204" pitchFamily="34" charset="0"/>
              <a:buChar char="•"/>
            </a:pPr>
            <a:r>
              <a:rPr lang="en-US" dirty="0"/>
              <a:t>Integrate </a:t>
            </a:r>
            <a:r>
              <a:rPr lang="en-US" b="1" dirty="0"/>
              <a:t>market-price data</a:t>
            </a:r>
            <a:r>
              <a:rPr lang="en-US" dirty="0"/>
              <a:t> to support better crop planning and profitability analysis. </a:t>
            </a:r>
          </a:p>
          <a:p>
            <a:pPr>
              <a:buFont typeface="Arial" panose="020B0604020202020204" pitchFamily="34" charset="0"/>
              <a:buChar char="•"/>
            </a:pPr>
            <a:r>
              <a:rPr lang="en-US" dirty="0"/>
              <a:t>Expand the system to cover </a:t>
            </a:r>
            <a:r>
              <a:rPr lang="en-US" b="1" dirty="0"/>
              <a:t>more crops, states, and regions</a:t>
            </a:r>
            <a:r>
              <a:rPr lang="en-US" dirty="0"/>
              <a:t> for broader agricultural insights.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675957" y="1941449"/>
            <a:ext cx="8468043" cy="369332"/>
          </a:xfrm>
          <a:prstGeom prst="rect">
            <a:avLst/>
          </a:prstGeom>
        </p:spPr>
        <p:txBody>
          <a:bodyPr wrap="square">
            <a:spAutoFit/>
          </a:bodyPr>
          <a:lstStyle/>
          <a:p>
            <a:r>
              <a:rPr lang="en-IN" dirty="0"/>
              <a:t>https://github.com/Starfirexai/Seasonal_Agriculture_Performance_Analysis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7519" y="1739788"/>
            <a:ext cx="6239320" cy="415930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www.w3.org/XML/1998/namespace"/>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71af3243-3dd4-4a8d-8c0d-dd76da1f02a5"/>
    <ds:schemaRef ds:uri="16c05727-aa75-4e4a-9b5f-8a80a1165891"/>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619</TotalTime>
  <Words>734</Words>
  <Application>Microsoft Office PowerPoint</Application>
  <PresentationFormat>Widescreen</PresentationFormat>
  <Paragraphs>71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103</cp:revision>
  <dcterms:created xsi:type="dcterms:W3CDTF">2021-07-11T13:13:15Z</dcterms:created>
  <dcterms:modified xsi:type="dcterms:W3CDTF">2026-09-08T20:15:10Z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